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6400800" cy="6400800"/>
          </a:xfrm>
          <a:prstGeom prst="ellipse">
            <a:avLst/>
          </a:prstGeom>
          <a:solidFill>
            <a:srgbClr val="2C5F2D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534095" y="3200400"/>
            <a:ext cx="5486400" cy="5486400"/>
          </a:xfrm>
          <a:prstGeom prst="ellipse">
            <a:avLst/>
          </a:prstGeom>
          <a:solidFill>
            <a:srgbClr val="E67E22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FUTURE  ·  TEAM PROJECTX  ·  2026 HACKATHON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972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Nutri</a:t>
            </a:r>
            <a:pPr indent="0" marL="0">
              <a:buNone/>
            </a:pPr>
            <a:r>
              <a:rPr lang="en-US" sz="180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</a:t>
            </a:r>
            <a:endParaRPr lang="en-US" sz="18000" dirty="0"/>
          </a:p>
        </p:txBody>
      </p:sp>
      <p:sp>
        <p:nvSpPr>
          <p:cNvPr id="6" name="Text 4"/>
          <p:cNvSpPr/>
          <p:nvPr/>
        </p:nvSpPr>
        <p:spPr>
          <a:xfrm>
            <a:off x="548640" y="4114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Snap a meal. </a:t>
            </a:r>
            <a:pPr indent="0" marL="0">
              <a:buNone/>
            </a:pPr>
            <a:r>
              <a:rPr lang="en-US" sz="3200" b="1" i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 a thali. </a:t>
            </a:r>
            <a:pPr indent="0" marL="0">
              <a:buNone/>
            </a:pPr>
            <a:r>
              <a:rPr lang="en-US" sz="3200" b="1" i="1" dirty="0">
                <a:solidFill>
                  <a:srgbClr val="E67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 the macros.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4846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D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calorie tracking, tuned for Indian meals. Built mobile-first for Microsoft employees.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5943600"/>
            <a:ext cx="11094415" cy="18288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6080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D9D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ProjectX  ·  Sanyam Agrawal et al.  ·  github.com/gim-home/nutriAI_new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9D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THE 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985455" y="45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</a:t>
            </a:r>
            <a:pPr algn="r" indent="0" marL="0">
              <a:buNone/>
            </a:pPr>
            <a:r>
              <a:rPr lang="en-US" sz="12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pPr algn="r" indent="0" marL="0">
              <a:buNone/>
            </a:pPr>
            <a:r>
              <a:rPr lang="en-US" sz="1200" spc="300" kern="0" dirty="0">
                <a:solidFill>
                  <a:srgbClr val="D9D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ProjectX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D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tracker tax on Indian food.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C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Western app gives up at the thali.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4754880" cy="40233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42316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2834640"/>
            <a:ext cx="4297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</a:t>
            </a:r>
            <a:endParaRPr lang="en-US" sz="15000" dirty="0"/>
          </a:p>
        </p:txBody>
      </p:sp>
      <p:sp>
        <p:nvSpPr>
          <p:cNvPr id="10" name="Text 8"/>
          <p:cNvSpPr/>
          <p:nvPr/>
        </p:nvSpPr>
        <p:spPr>
          <a:xfrm>
            <a:off x="777240" y="470916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9D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employees abandon their calorie tracker by week two.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77240" y="548640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because they stopped caring — because the app stopped working for the food on their plate.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0" y="2240280"/>
            <a:ext cx="502920" cy="50292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40" dirty="0"/>
          </a:p>
        </p:txBody>
      </p:sp>
      <p:sp>
        <p:nvSpPr>
          <p:cNvPr id="14" name="Text 12"/>
          <p:cNvSpPr/>
          <p:nvPr/>
        </p:nvSpPr>
        <p:spPr>
          <a:xfrm>
            <a:off x="6446520" y="21945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Western databases don't know dal-chawal.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46520" y="265176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MyFitnessPal, Lifesum, Cronometer: crowdsourced, low-quality, ambiguous matches for Indian meals.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0" y="3566160"/>
            <a:ext cx="502920" cy="50292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0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1540" dirty="0"/>
          </a:p>
        </p:txBody>
      </p:sp>
      <p:sp>
        <p:nvSpPr>
          <p:cNvPr id="18" name="Text 16"/>
          <p:cNvSpPr/>
          <p:nvPr/>
        </p:nvSpPr>
        <p:spPr>
          <a:xfrm>
            <a:off x="6446520" y="35204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entry is friction nobody keeps up.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46520" y="397764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"2 rotis · 1 katori sabzi · 1 katori dal · 200g curd" — every. single. meal.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0" y="4892040"/>
            <a:ext cx="502920" cy="50292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0" y="4892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</a:t>
            </a:r>
            <a:endParaRPr lang="en-US" sz="1540" dirty="0"/>
          </a:p>
        </p:txBody>
      </p:sp>
      <p:sp>
        <p:nvSpPr>
          <p:cNvPr id="22" name="Text 20"/>
          <p:cNvSpPr/>
          <p:nvPr/>
        </p:nvSpPr>
        <p:spPr>
          <a:xfrm>
            <a:off x="6446520" y="48463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Adherence collapses by week two.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46520" y="530352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drops by ~80% after 14 days. Without data, every wellness program is flying blind.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64465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C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10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1551615" y="6446520"/>
            <a:ext cx="164592" cy="164592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26" name="Shape 24"/>
          <p:cNvSpPr/>
          <p:nvPr/>
        </p:nvSpPr>
        <p:spPr>
          <a:xfrm>
            <a:off x="11780215" y="6446520"/>
            <a:ext cx="164592" cy="164592"/>
          </a:xfrm>
          <a:prstGeom prst="ellipse">
            <a:avLst/>
          </a:prstGeom>
          <a:solidFill>
            <a:srgbClr val="2C5F2D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9D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THE SOLUTION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985455" y="45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</a:t>
            </a:r>
            <a:pPr algn="r" indent="0" marL="0">
              <a:buNone/>
            </a:pPr>
            <a:r>
              <a:rPr lang="en-US" sz="12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pPr algn="r" indent="0" marL="0">
              <a:buNone/>
            </a:pPr>
            <a:r>
              <a:rPr lang="en-US" sz="1200" spc="300" kern="0" dirty="0">
                <a:solidFill>
                  <a:srgbClr val="D9D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ProjectX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D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Snap. Eat. Done.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C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seconds from photo to full nutrition panel.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0868" y="2194560"/>
            <a:ext cx="35204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9CC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06628" y="2560320"/>
            <a:ext cx="822960" cy="82296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9" name="Text 7"/>
          <p:cNvSpPr/>
          <p:nvPr/>
        </p:nvSpPr>
        <p:spPr>
          <a:xfrm>
            <a:off x="906628" y="25603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906628" y="356616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Photo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906628" y="4206240"/>
            <a:ext cx="2788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Drag, drop, or shoot live. Even HEIC from iPhone — we transcode on the fly.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35628" y="2194560"/>
            <a:ext cx="35204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9CC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1388" y="2560320"/>
            <a:ext cx="822960" cy="82296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4" name="Text 12"/>
          <p:cNvSpPr/>
          <p:nvPr/>
        </p:nvSpPr>
        <p:spPr>
          <a:xfrm>
            <a:off x="4701388" y="25603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4701388" y="356616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extracts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701388" y="4206240"/>
            <a:ext cx="2788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 name, ingredients, weights, per-row calories + the full macro panel.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130388" y="2194560"/>
            <a:ext cx="35204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9CC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496148" y="2560320"/>
            <a:ext cx="822960" cy="82296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9" name="Text 17"/>
          <p:cNvSpPr/>
          <p:nvPr/>
        </p:nvSpPr>
        <p:spPr>
          <a:xfrm>
            <a:off x="8496148" y="25603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8496148" y="356616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Edit &amp; save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8496148" y="4206240"/>
            <a:ext cx="2788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row is editable. Totals recompute live. Wrong AI? Fixed in two seconds.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 rot="1800000">
            <a:off x="4134460" y="3931920"/>
            <a:ext cx="201168" cy="182880"/>
          </a:xfrm>
          <a:prstGeom prst="rtTriangle">
            <a:avLst/>
          </a:prstGeom>
          <a:solidFill>
            <a:srgbClr val="97BC62"/>
          </a:solidFill>
          <a:ln/>
        </p:spPr>
      </p:sp>
      <p:sp>
        <p:nvSpPr>
          <p:cNvPr id="23" name="Shape 21"/>
          <p:cNvSpPr/>
          <p:nvPr/>
        </p:nvSpPr>
        <p:spPr>
          <a:xfrm rot="1800000">
            <a:off x="7929220" y="3931920"/>
            <a:ext cx="201168" cy="182880"/>
          </a:xfrm>
          <a:prstGeom prst="rtTriangle">
            <a:avLst/>
          </a:prstGeom>
          <a:solidFill>
            <a:srgbClr val="97BC62"/>
          </a:solidFill>
          <a:ln/>
        </p:spPr>
      </p:sp>
      <p:sp>
        <p:nvSpPr>
          <p:cNvPr id="24" name="Shape 22"/>
          <p:cNvSpPr/>
          <p:nvPr/>
        </p:nvSpPr>
        <p:spPr>
          <a:xfrm>
            <a:off x="548640" y="6126480"/>
            <a:ext cx="11094415" cy="4114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61264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mobile-first.  ·  Works offline with a realistic mock AI.  ·  Real vision is one env var.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64465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C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10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1551615" y="6446520"/>
            <a:ext cx="164592" cy="164592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28" name="Shape 26"/>
          <p:cNvSpPr/>
          <p:nvPr/>
        </p:nvSpPr>
        <p:spPr>
          <a:xfrm>
            <a:off x="11780215" y="6446520"/>
            <a:ext cx="164592" cy="164592"/>
          </a:xfrm>
          <a:prstGeom prst="ellipse">
            <a:avLst/>
          </a:prstGeom>
          <a:solidFill>
            <a:srgbClr val="2C5F2D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9D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WHY IT WORKS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985455" y="45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</a:t>
            </a:r>
            <a:pPr algn="r" indent="0" marL="0">
              <a:buNone/>
            </a:pPr>
            <a:r>
              <a:rPr lang="en-US" sz="12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pPr algn="r" indent="0" marL="0">
              <a:buNone/>
            </a:pPr>
            <a:r>
              <a:rPr lang="en-US" sz="1200" spc="300" kern="0" dirty="0">
                <a:solidFill>
                  <a:srgbClr val="D9D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ProjectX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D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where Western trackers give up.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C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Indian-food-first nutrition, layered for accuracy.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86588" y="2194560"/>
            <a:ext cx="53949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9C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0908" y="2468880"/>
            <a:ext cx="548640" cy="54864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9" name="Text 7"/>
          <p:cNvSpPr/>
          <p:nvPr/>
        </p:nvSpPr>
        <p:spPr>
          <a:xfrm>
            <a:off x="860908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🌶</a:t>
            </a:r>
            <a:endParaRPr lang="en-US" sz="1680" dirty="0"/>
          </a:p>
        </p:txBody>
      </p:sp>
      <p:sp>
        <p:nvSpPr>
          <p:cNvPr id="10" name="Text 8"/>
          <p:cNvSpPr/>
          <p:nvPr/>
        </p:nvSpPr>
        <p:spPr>
          <a:xfrm>
            <a:off x="1592428" y="245059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 IFCT-style Indian foods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92428" y="292608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 tadka, paneer butter masala, biryani, poha, upma, rajma, chole — measured per-100g, authoritative for the meals employees actually eat.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0148" y="2194560"/>
            <a:ext cx="53949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9C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84468" y="2468880"/>
            <a:ext cx="548640" cy="54864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4" name="Text 12"/>
          <p:cNvSpPr/>
          <p:nvPr/>
        </p:nvSpPr>
        <p:spPr>
          <a:xfrm>
            <a:off x="6484468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</a:t>
            </a:r>
            <a:endParaRPr lang="en-US" sz="1680" dirty="0"/>
          </a:p>
        </p:txBody>
      </p:sp>
      <p:sp>
        <p:nvSpPr>
          <p:cNvPr id="15" name="Text 13"/>
          <p:cNvSpPr/>
          <p:nvPr/>
        </p:nvSpPr>
        <p:spPr>
          <a:xfrm>
            <a:off x="7215988" y="245059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USDA FoodData Central fallback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215988" y="292608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Government-measured macros for the long tail. Free public API. Tries Foundation/SR-Legacy/Survey datasets first, falls back to broad search.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86588" y="4251960"/>
            <a:ext cx="53949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9C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60908" y="4526280"/>
            <a:ext cx="548640" cy="54864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9" name="Text 17"/>
          <p:cNvSpPr/>
          <p:nvPr/>
        </p:nvSpPr>
        <p:spPr>
          <a:xfrm>
            <a:off x="860908" y="4526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</a:t>
            </a:r>
            <a:endParaRPr lang="en-US" sz="1680" dirty="0"/>
          </a:p>
        </p:txBody>
      </p:sp>
      <p:sp>
        <p:nvSpPr>
          <p:cNvPr id="20" name="Text 18"/>
          <p:cNvSpPr/>
          <p:nvPr/>
        </p:nvSpPr>
        <p:spPr>
          <a:xfrm>
            <a:off x="1592428" y="450799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Pluggable vision pipeline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592428" y="498348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provider for offline demos. GitHub Models GPT-4o today. Qwen2.5-VL / YOLOv8 / Florence-2 tomorrow — one new file, frontend never changes.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10148" y="4251960"/>
            <a:ext cx="53949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9C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84468" y="4526280"/>
            <a:ext cx="548640" cy="54864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24" name="Text 22"/>
          <p:cNvSpPr/>
          <p:nvPr/>
        </p:nvSpPr>
        <p:spPr>
          <a:xfrm>
            <a:off x="6484468" y="4526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</a:t>
            </a:r>
            <a:endParaRPr lang="en-US" sz="1680" dirty="0"/>
          </a:p>
        </p:txBody>
      </p:sp>
      <p:sp>
        <p:nvSpPr>
          <p:cNvPr id="25" name="Text 23"/>
          <p:cNvSpPr/>
          <p:nvPr/>
        </p:nvSpPr>
        <p:spPr>
          <a:xfrm>
            <a:off x="7215988" y="450799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Editable, always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215988" y="498348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AI? Two-second fix. Every ingredient is a row: change weight, unit, name — totals recompute live. Real tools earn trust by being correctable.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65760" y="64465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C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10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1551615" y="6446520"/>
            <a:ext cx="164592" cy="164592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29" name="Shape 27"/>
          <p:cNvSpPr/>
          <p:nvPr/>
        </p:nvSpPr>
        <p:spPr>
          <a:xfrm>
            <a:off x="11780215" y="6446520"/>
            <a:ext cx="164592" cy="164592"/>
          </a:xfrm>
          <a:prstGeom prst="ellipse">
            <a:avLst/>
          </a:prstGeom>
          <a:solidFill>
            <a:srgbClr val="2C5F2D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9D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WHAT YOU GET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985455" y="45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</a:t>
            </a:r>
            <a:pPr algn="r" indent="0" marL="0">
              <a:buNone/>
            </a:pPr>
            <a:r>
              <a:rPr lang="en-US" sz="12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pPr algn="r" indent="0" marL="0">
              <a:buNone/>
            </a:pPr>
            <a:r>
              <a:rPr lang="en-US" sz="1200" spc="300" kern="0" dirty="0">
                <a:solidFill>
                  <a:srgbClr val="D9D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ProjectX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D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screen, ready to ship.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C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pages · 35 endpoints · a working app you can sign into right now.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4000" y="2057400"/>
            <a:ext cx="26974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9C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28320" y="228600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9" name="Text 7"/>
          <p:cNvSpPr/>
          <p:nvPr/>
        </p:nvSpPr>
        <p:spPr>
          <a:xfrm>
            <a:off x="72832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28320" y="28346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Photo → meal AI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28320" y="31546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vision, editable result grid, HEIC supported.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16072" y="2057400"/>
            <a:ext cx="26974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9C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590392" y="228600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4" name="Text 12"/>
          <p:cNvSpPr/>
          <p:nvPr/>
        </p:nvSpPr>
        <p:spPr>
          <a:xfrm>
            <a:off x="3590392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🩺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90392" y="28346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Blood sugar impact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590392" y="31546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GlucoScore + 2½ h predicted glucose curve, per ingredient.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78144" y="2057400"/>
            <a:ext cx="26974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9C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52464" y="228600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9" name="Text 17"/>
          <p:cNvSpPr/>
          <p:nvPr/>
        </p:nvSpPr>
        <p:spPr>
          <a:xfrm>
            <a:off x="6452464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💯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52464" y="28346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MetabolicScore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52464" y="31546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0–100 metabolic-health score with a 7-day trend.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040216" y="2057400"/>
            <a:ext cx="26974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9C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314536" y="228600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4" name="Text 22"/>
          <p:cNvSpPr/>
          <p:nvPr/>
        </p:nvSpPr>
        <p:spPr>
          <a:xfrm>
            <a:off x="9314536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314536" y="28346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314536" y="31546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Calorie ring, macro bars, streak, water — one query.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4000" y="3758184"/>
            <a:ext cx="26974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9C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28320" y="3986784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9" name="Text 27"/>
          <p:cNvSpPr/>
          <p:nvPr/>
        </p:nvSpPr>
        <p:spPr>
          <a:xfrm>
            <a:off x="728320" y="3986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28320" y="4535424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28320" y="4855464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30 / 90-day trends + 0–100 Healthy Score + month grid.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316072" y="3758184"/>
            <a:ext cx="26974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9C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590392" y="3986784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4" name="Text 32"/>
          <p:cNvSpPr/>
          <p:nvPr/>
        </p:nvSpPr>
        <p:spPr>
          <a:xfrm>
            <a:off x="3590392" y="3986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🕘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590392" y="4535424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History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3590392" y="4855464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type-filter, edit, delete.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178144" y="3758184"/>
            <a:ext cx="26974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9C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452464" y="3986784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9" name="Text 37"/>
          <p:cNvSpPr/>
          <p:nvPr/>
        </p:nvSpPr>
        <p:spPr>
          <a:xfrm>
            <a:off x="6452464" y="3986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452464" y="4535424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+ badges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452464" y="4855464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weekly challenges + live leaderboard + 10 achievements.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9040216" y="3758184"/>
            <a:ext cx="26974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9C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9314536" y="3986784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44" name="Text 42"/>
          <p:cNvSpPr/>
          <p:nvPr/>
        </p:nvSpPr>
        <p:spPr>
          <a:xfrm>
            <a:off x="9314536" y="3986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9314536" y="4535424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insights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9314536" y="4855464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insight rules · 13 healthier swaps · browser reminders.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548640" y="5596128"/>
            <a:ext cx="35152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67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10s</a:t>
            </a:r>
            <a:endParaRPr lang="en-US" sz="3600" dirty="0"/>
          </a:p>
        </p:txBody>
      </p:sp>
      <p:sp>
        <p:nvSpPr>
          <p:cNvPr id="48" name="Text 46"/>
          <p:cNvSpPr/>
          <p:nvPr/>
        </p:nvSpPr>
        <p:spPr>
          <a:xfrm>
            <a:off x="548640" y="6071616"/>
            <a:ext cx="3515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200" kern="0" dirty="0">
                <a:solidFill>
                  <a:srgbClr val="5C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→ saved meal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4338218" y="5596128"/>
            <a:ext cx="35152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67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120+</a:t>
            </a:r>
            <a:endParaRPr lang="en-US" sz="3600" dirty="0"/>
          </a:p>
        </p:txBody>
      </p:sp>
      <p:sp>
        <p:nvSpPr>
          <p:cNvPr id="50" name="Text 48"/>
          <p:cNvSpPr/>
          <p:nvPr/>
        </p:nvSpPr>
        <p:spPr>
          <a:xfrm>
            <a:off x="4338218" y="6071616"/>
            <a:ext cx="3515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200" kern="0" dirty="0">
                <a:solidFill>
                  <a:srgbClr val="5C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foods seeded (IFCT-style)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8127797" y="5596128"/>
            <a:ext cx="35152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67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600" dirty="0"/>
          </a:p>
        </p:txBody>
      </p:sp>
      <p:sp>
        <p:nvSpPr>
          <p:cNvPr id="52" name="Text 50"/>
          <p:cNvSpPr/>
          <p:nvPr/>
        </p:nvSpPr>
        <p:spPr>
          <a:xfrm>
            <a:off x="8127797" y="6071616"/>
            <a:ext cx="3515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200" kern="0" dirty="0">
                <a:solidFill>
                  <a:srgbClr val="5C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result data is user-editable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365760" y="64465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C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10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11551615" y="6446520"/>
            <a:ext cx="164592" cy="164592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55" name="Shape 53"/>
          <p:cNvSpPr/>
          <p:nvPr/>
        </p:nvSpPr>
        <p:spPr>
          <a:xfrm>
            <a:off x="11780215" y="6446520"/>
            <a:ext cx="164592" cy="164592"/>
          </a:xfrm>
          <a:prstGeom prst="ellipse">
            <a:avLst/>
          </a:prstGeom>
          <a:solidFill>
            <a:srgbClr val="2C5F2D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9D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MODEL &amp; ROADMAP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985455" y="45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</a:t>
            </a:r>
            <a:pPr algn="r" indent="0" marL="0">
              <a:buNone/>
            </a:pPr>
            <a:r>
              <a:rPr lang="en-US" sz="12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pPr algn="r" indent="0" marL="0">
              <a:buNone/>
            </a:pPr>
            <a:r>
              <a:rPr lang="en-US" sz="1200" spc="300" kern="0" dirty="0">
                <a:solidFill>
                  <a:srgbClr val="D9D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ProjectX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D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 behind the macros.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C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runs today — and the roadmap that makes it sharper.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2103120"/>
            <a:ext cx="544068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9C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2103120"/>
            <a:ext cx="5440680" cy="14630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2414016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41401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NOW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7240" y="2816352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GPT-4o vision + layered nutrition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777240" y="3401568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401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17320" y="3346704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D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 in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3639312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JPEG · PNG · WebP · HEIC (auto-transcoded), compressed to ≤1 MB before upload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005840" y="3858768"/>
            <a:ext cx="0" cy="164592"/>
          </a:xfrm>
          <a:prstGeom prst="line">
            <a:avLst/>
          </a:prstGeom>
          <a:noFill/>
          <a:ln w="19050">
            <a:solidFill>
              <a:srgbClr val="97BC62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777240" y="4169664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169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17320" y="4114800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D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GPT-4o vision  (GitHub Models)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17320" y="4407408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multimodal call returns dish name, type, confidence, ingredients with grams and per-row confidence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005840" y="4626864"/>
            <a:ext cx="0" cy="164592"/>
          </a:xfrm>
          <a:prstGeom prst="line">
            <a:avLst/>
          </a:prstGeom>
          <a:noFill/>
          <a:ln w="19050">
            <a:solidFill>
              <a:srgbClr val="97BC62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777240" y="493776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417320" y="4882896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D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Layered macro resolver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417320" y="5175504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IFCT-style table (~120 foods)  →  USDA FoodData Central  →  Open Food Facts (brand-label override for packaged items)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005840" y="5394960"/>
            <a:ext cx="0" cy="164592"/>
          </a:xfrm>
          <a:prstGeom prst="line">
            <a:avLst/>
          </a:prstGeom>
          <a:noFill/>
          <a:ln w="19050">
            <a:solidFill>
              <a:srgbClr val="97BC62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777240" y="5705856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" y="5705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417320" y="5650992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D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Editable result loop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417320" y="5943600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row user-correctable; totals recompute live. Corrections feed the Phase C training signal (see right) →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248095" y="2103120"/>
            <a:ext cx="544068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9C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248095" y="2103120"/>
            <a:ext cx="5440680" cy="14630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3" name="Shape 31"/>
          <p:cNvSpPr/>
          <p:nvPr/>
        </p:nvSpPr>
        <p:spPr>
          <a:xfrm>
            <a:off x="6522415" y="2414016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/>
        </p:spPr>
      </p:sp>
      <p:sp>
        <p:nvSpPr>
          <p:cNvPr id="34" name="Text 32"/>
          <p:cNvSpPr/>
          <p:nvPr/>
        </p:nvSpPr>
        <p:spPr>
          <a:xfrm>
            <a:off x="6522415" y="241401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522415" y="2816352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67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GPT wrapper to a proper ML pipeline.</a:t>
            </a:r>
            <a:endParaRPr lang="en-US" sz="1900" dirty="0"/>
          </a:p>
        </p:txBody>
      </p:sp>
      <p:sp>
        <p:nvSpPr>
          <p:cNvPr id="36" name="Shape 34"/>
          <p:cNvSpPr/>
          <p:nvPr/>
        </p:nvSpPr>
        <p:spPr>
          <a:xfrm>
            <a:off x="6522415" y="3337560"/>
            <a:ext cx="2331720" cy="256032"/>
          </a:xfrm>
          <a:prstGeom prst="roundRect">
            <a:avLst>
              <a:gd name="adj" fmla="val 50000"/>
            </a:avLst>
          </a:prstGeom>
          <a:solidFill>
            <a:srgbClr val="C45F11"/>
          </a:solidFill>
          <a:ln/>
        </p:spPr>
      </p:sp>
      <p:sp>
        <p:nvSpPr>
          <p:cNvPr id="37" name="Text 35"/>
          <p:cNvSpPr/>
          <p:nvPr/>
        </p:nvSpPr>
        <p:spPr>
          <a:xfrm>
            <a:off x="6522415" y="333756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A  ·  weekend ship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522415" y="3621024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D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Specialist classifier as a second opinion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6522415" y="3931920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nateraw/food (EfficientNet-B4, 9 MB, 101 classes) in parallel via ONNX Runtime on CPU. Confidence-fuse with GPT-4o, surface disagreements as "we think X, might be Y". +200 ms, $0/request.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522415" y="4370832"/>
            <a:ext cx="2331720" cy="256032"/>
          </a:xfrm>
          <a:prstGeom prst="roundRect">
            <a:avLst>
              <a:gd name="adj" fmla="val 50000"/>
            </a:avLst>
          </a:prstGeom>
          <a:solidFill>
            <a:srgbClr val="C45F11"/>
          </a:solidFill>
          <a:ln/>
        </p:spPr>
      </p:sp>
      <p:sp>
        <p:nvSpPr>
          <p:cNvPr id="41" name="Text 39"/>
          <p:cNvSpPr/>
          <p:nvPr/>
        </p:nvSpPr>
        <p:spPr>
          <a:xfrm>
            <a:off x="6522415" y="437083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B  ·  1–2 weeks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522415" y="4654296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D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CV stack replaces GPT-4o for ID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6522415" y="4965192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YOLOv8-nano food detection → CLIP ViT-B/32 + FAISS over ~5K dish embeddings → small VLM (Phi-3.5-vision) for portion only. Target: ~70% latency cut, ~90% cost cut.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522415" y="5404104"/>
            <a:ext cx="2331720" cy="256032"/>
          </a:xfrm>
          <a:prstGeom prst="roundRect">
            <a:avLst>
              <a:gd name="adj" fmla="val 50000"/>
            </a:avLst>
          </a:prstGeom>
          <a:solidFill>
            <a:srgbClr val="C45F11"/>
          </a:solidFill>
          <a:ln/>
        </p:spPr>
      </p:sp>
      <p:sp>
        <p:nvSpPr>
          <p:cNvPr id="45" name="Text 43"/>
          <p:cNvSpPr/>
          <p:nvPr/>
        </p:nvSpPr>
        <p:spPr>
          <a:xfrm>
            <a:off x="6522415" y="540410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C  ·  several weeks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522415" y="5687568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D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 our own Indian-food model</a:t>
            </a:r>
            <a:endParaRPr lang="en-US" sz="1350" dirty="0"/>
          </a:p>
        </p:txBody>
      </p:sp>
      <p:sp>
        <p:nvSpPr>
          <p:cNvPr id="47" name="Text 45"/>
          <p:cNvSpPr/>
          <p:nvPr/>
        </p:nvSpPr>
        <p:spPr>
          <a:xfrm>
            <a:off x="6522415" y="5998464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DINOv2 ViT-S/14 + linear probe, fine-tuned on Recipe1M+ (Indian-filtered) + Indian Food Image Dataset + user corrections. ONNX, ~10 MB, ~50 ms CPU. Corrections become training data.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365760" y="64465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C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10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11551615" y="6446520"/>
            <a:ext cx="164592" cy="164592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50" name="Shape 48"/>
          <p:cNvSpPr/>
          <p:nvPr/>
        </p:nvSpPr>
        <p:spPr>
          <a:xfrm>
            <a:off x="11780215" y="6446520"/>
            <a:ext cx="164592" cy="164592"/>
          </a:xfrm>
          <a:prstGeom prst="ellipse">
            <a:avLst/>
          </a:prstGeom>
          <a:solidFill>
            <a:srgbClr val="2C5F2D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9D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EVAL RESULTS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985455" y="45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</a:t>
            </a:r>
            <a:pPr algn="r" indent="0" marL="0">
              <a:buNone/>
            </a:pPr>
            <a:r>
              <a:rPr lang="en-US" sz="12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pPr algn="r" indent="0" marL="0">
              <a:buNone/>
            </a:pPr>
            <a:r>
              <a:rPr lang="en-US" sz="1200" spc="300" kern="0" dirty="0">
                <a:solidFill>
                  <a:srgbClr val="D9D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ProjectX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D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measured ourselves.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C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labelled images. Four checks. Repeatable: scripts/eval_accuracy.py.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6903720" cy="3838194"/>
          </a:xfrm>
          <a:prstGeom prst="rect">
            <a:avLst/>
          </a:prstGeom>
          <a:solidFill>
            <a:srgbClr val="0F1F12"/>
          </a:solidFill>
          <a:ln/>
        </p:spPr>
      </p:sp>
      <p:pic>
        <p:nvPicPr>
          <p:cNvPr id="8" name="Image 0" descr="../eval_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103120"/>
            <a:ext cx="6812280" cy="374675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543800" y="2103120"/>
            <a:ext cx="4144975" cy="881825"/>
          </a:xfrm>
          <a:prstGeom prst="rect">
            <a:avLst/>
          </a:prstGeom>
          <a:solidFill>
            <a:srgbClr val="FFFFFF"/>
          </a:solidFill>
          <a:ln w="12700">
            <a:solidFill>
              <a:srgbClr val="DDD9C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543800" y="2103120"/>
            <a:ext cx="109728" cy="881825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1" name="Text 8"/>
          <p:cNvSpPr/>
          <p:nvPr/>
        </p:nvSpPr>
        <p:spPr>
          <a:xfrm>
            <a:off x="7744968" y="2148840"/>
            <a:ext cx="1417320" cy="790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800" dirty="0"/>
          </a:p>
        </p:txBody>
      </p:sp>
      <p:sp>
        <p:nvSpPr>
          <p:cNvPr id="12" name="Text 9"/>
          <p:cNvSpPr/>
          <p:nvPr/>
        </p:nvSpPr>
        <p:spPr>
          <a:xfrm>
            <a:off x="9144000" y="2176272"/>
            <a:ext cx="24533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D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Calories in plausible range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9144000" y="2573464"/>
            <a:ext cx="24533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5C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543800" y="3058097"/>
            <a:ext cx="4144975" cy="881825"/>
          </a:xfrm>
          <a:prstGeom prst="rect">
            <a:avLst/>
          </a:prstGeom>
          <a:solidFill>
            <a:srgbClr val="FFFFFF"/>
          </a:solidFill>
          <a:ln w="12700">
            <a:solidFill>
              <a:srgbClr val="DDD9C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543800" y="3058097"/>
            <a:ext cx="109728" cy="881825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6" name="Text 13"/>
          <p:cNvSpPr/>
          <p:nvPr/>
        </p:nvSpPr>
        <p:spPr>
          <a:xfrm>
            <a:off x="7744968" y="3103816"/>
            <a:ext cx="1417320" cy="790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90%</a:t>
            </a:r>
            <a:endParaRPr lang="en-US" sz="3800" dirty="0"/>
          </a:p>
        </p:txBody>
      </p:sp>
      <p:sp>
        <p:nvSpPr>
          <p:cNvPr id="17" name="Text 14"/>
          <p:cNvSpPr/>
          <p:nvPr/>
        </p:nvSpPr>
        <p:spPr>
          <a:xfrm>
            <a:off x="9144000" y="3131249"/>
            <a:ext cx="24533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D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Ingredient match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9144000" y="3528441"/>
            <a:ext cx="24533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5C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543800" y="4013073"/>
            <a:ext cx="4144975" cy="881825"/>
          </a:xfrm>
          <a:prstGeom prst="rect">
            <a:avLst/>
          </a:prstGeom>
          <a:solidFill>
            <a:srgbClr val="FFFFFF"/>
          </a:solidFill>
          <a:ln w="12700">
            <a:solidFill>
              <a:srgbClr val="DDD9C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7543800" y="4013073"/>
            <a:ext cx="109728" cy="881825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1" name="Text 18"/>
          <p:cNvSpPr/>
          <p:nvPr/>
        </p:nvSpPr>
        <p:spPr>
          <a:xfrm>
            <a:off x="7744968" y="4058793"/>
            <a:ext cx="1417320" cy="790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90%</a:t>
            </a:r>
            <a:endParaRPr lang="en-US" sz="3800" dirty="0"/>
          </a:p>
        </p:txBody>
      </p:sp>
      <p:sp>
        <p:nvSpPr>
          <p:cNvPr id="22" name="Text 19"/>
          <p:cNvSpPr/>
          <p:nvPr/>
        </p:nvSpPr>
        <p:spPr>
          <a:xfrm>
            <a:off x="9144000" y="4086225"/>
            <a:ext cx="24533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D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Macro consistency  ±35 %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9144000" y="4483418"/>
            <a:ext cx="24533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5C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7543800" y="4968050"/>
            <a:ext cx="4144975" cy="881825"/>
          </a:xfrm>
          <a:prstGeom prst="rect">
            <a:avLst/>
          </a:prstGeom>
          <a:solidFill>
            <a:srgbClr val="FFFFFF"/>
          </a:solidFill>
          <a:ln w="12700">
            <a:solidFill>
              <a:srgbClr val="DDD9C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7543800" y="4968050"/>
            <a:ext cx="109728" cy="881825"/>
          </a:xfrm>
          <a:prstGeom prst="rect">
            <a:avLst/>
          </a:prstGeom>
          <a:solidFill>
            <a:srgbClr val="C45F11"/>
          </a:solidFill>
          <a:ln/>
        </p:spPr>
      </p:sp>
      <p:sp>
        <p:nvSpPr>
          <p:cNvPr id="26" name="Text 23"/>
          <p:cNvSpPr/>
          <p:nvPr/>
        </p:nvSpPr>
        <p:spPr>
          <a:xfrm>
            <a:off x="7744968" y="5013770"/>
            <a:ext cx="1417320" cy="790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C45F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70%</a:t>
            </a:r>
            <a:endParaRPr lang="en-US" sz="3800" dirty="0"/>
          </a:p>
        </p:txBody>
      </p:sp>
      <p:sp>
        <p:nvSpPr>
          <p:cNvPr id="27" name="Text 24"/>
          <p:cNvSpPr/>
          <p:nvPr/>
        </p:nvSpPr>
        <p:spPr>
          <a:xfrm>
            <a:off x="9144000" y="5041202"/>
            <a:ext cx="24533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D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Dish name match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9144000" y="5438394"/>
            <a:ext cx="24533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5C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502920" y="6014466"/>
            <a:ext cx="11185855" cy="5029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0" name="Text 27"/>
          <p:cNvSpPr/>
          <p:nvPr/>
        </p:nvSpPr>
        <p:spPr>
          <a:xfrm>
            <a:off x="685800" y="601446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gap: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dish name on visually-similar Indian dishes (kulcha vs paratha, butter chicken vs paneer butter masala). </a:t>
            </a:r>
            <a:pPr indent="0" marL="0">
              <a:buNone/>
            </a:pPr>
            <a:r>
              <a:rPr lang="en-US" sz="115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A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addresses this with a parallel food-specialist classifier. </a:t>
            </a:r>
            <a:pPr indent="0" marL="0">
              <a:buNone/>
            </a:pPr>
            <a:r>
              <a:rPr lang="en-US" sz="115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8.6 s avg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Phase B targets ~3 s.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365760" y="64465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C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10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11551615" y="6446520"/>
            <a:ext cx="164592" cy="164592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33" name="Shape 30"/>
          <p:cNvSpPr/>
          <p:nvPr/>
        </p:nvSpPr>
        <p:spPr>
          <a:xfrm>
            <a:off x="11780215" y="6446520"/>
            <a:ext cx="164592" cy="164592"/>
          </a:xfrm>
          <a:prstGeom prst="ellipse">
            <a:avLst/>
          </a:prstGeom>
          <a:solidFill>
            <a:srgbClr val="2C5F2D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9D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WHAT'S NEXT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985455" y="45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</a:t>
            </a:r>
            <a:pPr algn="r" indent="0" marL="0">
              <a:buNone/>
            </a:pPr>
            <a:r>
              <a:rPr lang="en-US" sz="12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pPr algn="r" indent="0" marL="0">
              <a:buNone/>
            </a:pPr>
            <a:r>
              <a:rPr lang="en-US" sz="1200" spc="300" kern="0" dirty="0">
                <a:solidFill>
                  <a:srgbClr val="D9D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ProjectX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D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Stop snapping.  Start swiping.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C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 into HungerBox and SmartQ — every Microsoft cafeteria meal logs itself.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02056" y="2468880"/>
            <a:ext cx="2377440" cy="1280160"/>
          </a:xfrm>
          <a:prstGeom prst="roundRect">
            <a:avLst>
              <a:gd name="adj" fmla="val 8571"/>
            </a:avLst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902056" y="257860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902056" y="30358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02056" y="3337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9D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Swipes badge at MS cafeteria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 rot="1800000">
            <a:off x="3316072" y="2980944"/>
            <a:ext cx="219456" cy="256032"/>
          </a:xfrm>
          <a:prstGeom prst="rtTriangle">
            <a:avLst/>
          </a:prstGeom>
          <a:solidFill>
            <a:srgbClr val="E67E22"/>
          </a:solidFill>
          <a:ln/>
        </p:spPr>
      </p:sp>
      <p:sp>
        <p:nvSpPr>
          <p:cNvPr id="12" name="Shape 10"/>
          <p:cNvSpPr/>
          <p:nvPr/>
        </p:nvSpPr>
        <p:spPr>
          <a:xfrm>
            <a:off x="3572104" y="2468880"/>
            <a:ext cx="2377440" cy="1280160"/>
          </a:xfrm>
          <a:prstGeom prst="roundRect">
            <a:avLst>
              <a:gd name="adj" fmla="val 8571"/>
            </a:avLst>
          </a:prstGeom>
          <a:solidFill>
            <a:srgbClr val="E67E22"/>
          </a:solidFill>
          <a:ln/>
        </p:spPr>
      </p:sp>
      <p:sp>
        <p:nvSpPr>
          <p:cNvPr id="13" name="Text 11"/>
          <p:cNvSpPr/>
          <p:nvPr/>
        </p:nvSpPr>
        <p:spPr>
          <a:xfrm>
            <a:off x="3572104" y="257860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🍱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572104" y="30358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HungerBox / SmartQ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72104" y="3337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9D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order webhook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 rot="1800000">
            <a:off x="5986120" y="2980944"/>
            <a:ext cx="219456" cy="256032"/>
          </a:xfrm>
          <a:prstGeom prst="rtTriangle">
            <a:avLst/>
          </a:prstGeom>
          <a:solidFill>
            <a:srgbClr val="E67E22"/>
          </a:solidFill>
          <a:ln/>
        </p:spPr>
      </p:sp>
      <p:sp>
        <p:nvSpPr>
          <p:cNvPr id="17" name="Shape 15"/>
          <p:cNvSpPr/>
          <p:nvPr/>
        </p:nvSpPr>
        <p:spPr>
          <a:xfrm>
            <a:off x="6242152" y="2468880"/>
            <a:ext cx="2377440" cy="1280160"/>
          </a:xfrm>
          <a:prstGeom prst="roundRect">
            <a:avLst>
              <a:gd name="adj" fmla="val 8571"/>
            </a:avLst>
          </a:prstGeom>
          <a:solidFill>
            <a:srgbClr val="97BC62"/>
          </a:solidFill>
          <a:ln/>
        </p:spPr>
      </p:sp>
      <p:sp>
        <p:nvSpPr>
          <p:cNvPr id="18" name="Text 16"/>
          <p:cNvSpPr/>
          <p:nvPr/>
        </p:nvSpPr>
        <p:spPr>
          <a:xfrm>
            <a:off x="6242152" y="257860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242152" y="30358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NutriAI API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242152" y="3337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9D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/api/meals with item macros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 rot="1800000">
            <a:off x="8656168" y="2980944"/>
            <a:ext cx="219456" cy="256032"/>
          </a:xfrm>
          <a:prstGeom prst="rtTriangle">
            <a:avLst/>
          </a:prstGeom>
          <a:solidFill>
            <a:srgbClr val="E67E22"/>
          </a:solidFill>
          <a:ln/>
        </p:spPr>
      </p:sp>
      <p:sp>
        <p:nvSpPr>
          <p:cNvPr id="22" name="Shape 20"/>
          <p:cNvSpPr/>
          <p:nvPr/>
        </p:nvSpPr>
        <p:spPr>
          <a:xfrm>
            <a:off x="8912200" y="2468880"/>
            <a:ext cx="2377440" cy="1280160"/>
          </a:xfrm>
          <a:prstGeom prst="roundRect">
            <a:avLst>
              <a:gd name="adj" fmla="val 8571"/>
            </a:avLst>
          </a:prstGeom>
          <a:solidFill>
            <a:srgbClr val="2C5F2D"/>
          </a:solidFill>
          <a:ln/>
        </p:spPr>
      </p:sp>
      <p:sp>
        <p:nvSpPr>
          <p:cNvPr id="23" name="Text 21"/>
          <p:cNvSpPr/>
          <p:nvPr/>
        </p:nvSpPr>
        <p:spPr>
          <a:xfrm>
            <a:off x="8912200" y="257860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8912200" y="30358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912200" y="3337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9D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 logs itself — zero friction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42062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it gets bigger: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548640" y="4617720"/>
            <a:ext cx="457200" cy="45720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188720" y="466344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daily card — </a:t>
            </a:r>
            <a:pPr indent="0" marL="0">
              <a:buNone/>
            </a:pPr>
            <a:r>
              <a:rPr lang="en-US" sz="1200" dirty="0">
                <a:solidFill>
                  <a:srgbClr val="1F2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"You're 200 kcal under target — fancy a dosa?" — bot-posted nudges.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172200" y="4617720"/>
            <a:ext cx="457200" cy="45720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31" name="Text 29"/>
          <p:cNvSpPr/>
          <p:nvPr/>
        </p:nvSpPr>
        <p:spPr>
          <a:xfrm>
            <a:off x="617220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812280" y="466344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 Insights — </a:t>
            </a:r>
            <a:pPr indent="0" marL="0">
              <a:buNone/>
            </a:pPr>
            <a:r>
              <a:rPr lang="en-US" sz="1200" dirty="0">
                <a:solidFill>
                  <a:srgbClr val="1F2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NutriAI's Healthy Score alongside Focus &amp; Wellbeing metrics.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48640" y="5440680"/>
            <a:ext cx="457200" cy="45720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34" name="Text 32"/>
          <p:cNvSpPr/>
          <p:nvPr/>
        </p:nvSpPr>
        <p:spPr>
          <a:xfrm>
            <a:off x="548640" y="5440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📆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188720" y="548640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 context — </a:t>
            </a:r>
            <a:pPr indent="0" marL="0">
              <a:buNone/>
            </a:pPr>
            <a:r>
              <a:rPr lang="en-US" sz="1200" dirty="0">
                <a:solidFill>
                  <a:srgbClr val="1F2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Calendar-aware reminders that know about your 1 PM client lunch.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172200" y="5440680"/>
            <a:ext cx="457200" cy="45720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37" name="Text 35"/>
          <p:cNvSpPr/>
          <p:nvPr/>
        </p:nvSpPr>
        <p:spPr>
          <a:xfrm>
            <a:off x="6172200" y="5440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812280" y="548640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Entra ID OIDC — </a:t>
            </a:r>
            <a:pPr indent="0" marL="0">
              <a:buNone/>
            </a:pPr>
            <a:r>
              <a:rPr lang="en-US" sz="1200" dirty="0">
                <a:solidFill>
                  <a:srgbClr val="1F2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demo handshake — production-grade id_token validation.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65760" y="64465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C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10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1551615" y="6446520"/>
            <a:ext cx="164592" cy="164592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41" name="Shape 39"/>
          <p:cNvSpPr/>
          <p:nvPr/>
        </p:nvSpPr>
        <p:spPr>
          <a:xfrm>
            <a:off x="11780215" y="6446520"/>
            <a:ext cx="164592" cy="164592"/>
          </a:xfrm>
          <a:prstGeom prst="ellipse">
            <a:avLst/>
          </a:prstGeom>
          <a:solidFill>
            <a:srgbClr val="2C5F2D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9D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BUSINESS VALUE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985455" y="45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</a:t>
            </a:r>
            <a:pPr algn="r" indent="0" marL="0">
              <a:buNone/>
            </a:pPr>
            <a:r>
              <a:rPr lang="en-US" sz="12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pPr algn="r" indent="0" marL="0">
              <a:buNone/>
            </a:pPr>
            <a:r>
              <a:rPr lang="en-US" sz="1200" spc="300" kern="0" dirty="0">
                <a:solidFill>
                  <a:srgbClr val="D9D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ProjectX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D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Wellness shows up on the P&amp;L.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C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Microsoft, not just employees, benefits from NutriAI.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4937760" cy="402336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46888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tracker app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workplace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wellness platform.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777240" y="51206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Cafeteria-grade nutrition data is the lever Microsoft doesn't have today.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0" y="2194560"/>
            <a:ext cx="59893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9C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852160" y="2395728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5852160" y="2395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</a:t>
            </a:r>
            <a:endParaRPr lang="en-US" sz="1540" dirty="0"/>
          </a:p>
        </p:txBody>
      </p:sp>
      <p:sp>
        <p:nvSpPr>
          <p:cNvPr id="13" name="Text 11"/>
          <p:cNvSpPr/>
          <p:nvPr/>
        </p:nvSpPr>
        <p:spPr>
          <a:xfrm>
            <a:off x="6537960" y="2304288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Lower group health costs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37960" y="265176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Demonstrable nutrition adherence reduces lifestyle-disease risk — direct input to insurance premium negotiation.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69280" y="3182112"/>
            <a:ext cx="59893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9C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52160" y="338328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7" name="Text 15"/>
          <p:cNvSpPr/>
          <p:nvPr/>
        </p:nvSpPr>
        <p:spPr>
          <a:xfrm>
            <a:off x="5852160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🍽</a:t>
            </a:r>
            <a:endParaRPr lang="en-US" sz="1540" dirty="0"/>
          </a:p>
        </p:txBody>
      </p:sp>
      <p:sp>
        <p:nvSpPr>
          <p:cNvPr id="18" name="Text 16"/>
          <p:cNvSpPr/>
          <p:nvPr/>
        </p:nvSpPr>
        <p:spPr>
          <a:xfrm>
            <a:off x="6537960" y="329184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Cafeteria menu optimisation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37960" y="3639312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Aggregated, anonymised meal data tells facilities which healthy options actually get eaten.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69280" y="4169664"/>
            <a:ext cx="59893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9C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852160" y="4370832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2" name="Text 20"/>
          <p:cNvSpPr/>
          <p:nvPr/>
        </p:nvSpPr>
        <p:spPr>
          <a:xfrm>
            <a:off x="5852160" y="4370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❤</a:t>
            </a:r>
            <a:endParaRPr lang="en-US" sz="1540" dirty="0"/>
          </a:p>
        </p:txBody>
      </p:sp>
      <p:sp>
        <p:nvSpPr>
          <p:cNvPr id="23" name="Text 21"/>
          <p:cNvSpPr/>
          <p:nvPr/>
        </p:nvSpPr>
        <p:spPr>
          <a:xfrm>
            <a:off x="6537960" y="427939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Retention via wellbeing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537960" y="4626864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Wellbeing programs with real engagement (not just gym vouchers) measurably move retention.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669280" y="5157216"/>
            <a:ext cx="59893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9C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852160" y="5358384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7" name="Text 25"/>
          <p:cNvSpPr/>
          <p:nvPr/>
        </p:nvSpPr>
        <p:spPr>
          <a:xfrm>
            <a:off x="5852160" y="53583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</a:t>
            </a:r>
            <a:endParaRPr lang="en-US" sz="1540" dirty="0"/>
          </a:p>
        </p:txBody>
      </p:sp>
      <p:sp>
        <p:nvSpPr>
          <p:cNvPr id="28" name="Text 26"/>
          <p:cNvSpPr/>
          <p:nvPr/>
        </p:nvSpPr>
        <p:spPr>
          <a:xfrm>
            <a:off x="6537960" y="5266944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Brand: "Microsoft AI for me"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537960" y="561441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consumer-grade AI experience built for employees, on Microsoft infra — internal lighthouse for AI culture.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63093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spc="400" kern="0" dirty="0">
                <a:solidFill>
                  <a:srgbClr val="5C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Future bucket  ·  </a:t>
            </a:r>
            <a:pPr algn="ctr" indent="0" marL="0">
              <a:buNone/>
            </a:pPr>
            <a:r>
              <a:rPr lang="en-US" sz="1300" b="1" spc="400" kern="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× productivity × brand.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65760" y="64465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C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10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1551615" y="6446520"/>
            <a:ext cx="164592" cy="164592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33" name="Shape 31"/>
          <p:cNvSpPr/>
          <p:nvPr/>
        </p:nvSpPr>
        <p:spPr>
          <a:xfrm>
            <a:off x="11780215" y="6446520"/>
            <a:ext cx="164592" cy="164592"/>
          </a:xfrm>
          <a:prstGeom prst="ellipse">
            <a:avLst/>
          </a:prstGeom>
          <a:solidFill>
            <a:srgbClr val="2C5F2D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34095" y="-2286000"/>
            <a:ext cx="6400800" cy="6400800"/>
          </a:xfrm>
          <a:prstGeom prst="ellipse">
            <a:avLst/>
          </a:prstGeom>
          <a:solidFill>
            <a:srgbClr val="2C5F2D">
              <a:alpha val="5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CRITERIA.  FIVE ANSWERS.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NutriAI wins on the rubric.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548640" y="2176272"/>
            <a:ext cx="73152" cy="56692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3969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SOMETHING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297680" y="219456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D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live. You can sign in as a guest right now and snap a meal.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907792"/>
            <a:ext cx="73152" cy="566928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87121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297680" y="292608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D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up · AI_PROVIDER=github · free USDA key — no impossible assumptions.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639312"/>
            <a:ext cx="73152" cy="56692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60273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FOCUS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297680" y="36576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D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employees. Mobile-first. Indian food first. Built for the meals they actually eat.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370832"/>
            <a:ext cx="73152" cy="566928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33425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VALUE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297680" y="43891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D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adherence → premium savings · cafeteria-grade data · retention · brand.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5102352"/>
            <a:ext cx="73152" cy="56692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506577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INSPIRING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297680" y="512064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D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made tracking fast enough that people will actually do it. That's the whole point.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5852160"/>
            <a:ext cx="11094415" cy="18288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9893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9D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ProjectX  ·  </a:t>
            </a:r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</a:t>
            </a:r>
            <a:pPr algn="ctr" indent="0" marL="0">
              <a:buNone/>
            </a:pPr>
            <a:r>
              <a:rPr lang="en-US" sz="14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pPr algn="ctr" indent="0" marL="0">
              <a:buNone/>
            </a:pPr>
            <a:r>
              <a:rPr lang="en-US" sz="1400" dirty="0">
                <a:solidFill>
                  <a:srgbClr val="D9D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Try it live:  </a:t>
            </a:r>
            <a:pPr algn="ctr" indent="0" marL="0">
              <a:buNone/>
            </a:pPr>
            <a:r>
              <a:rPr lang="en-US" sz="14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github.com/gim-home/nutriAI_new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NutriAI — Healthy Future Hackathon Pitch</dc:title>
  <dc:subject>PptxGenJS Presentation</dc:subject>
  <dc:creator>Team ProjectX</dc:creator>
  <cp:lastModifiedBy>Team ProjectX</cp:lastModifiedBy>
  <cp:revision>1</cp:revision>
  <dcterms:created xsi:type="dcterms:W3CDTF">2026-06-25T22:04:41Z</dcterms:created>
  <dcterms:modified xsi:type="dcterms:W3CDTF">2026-06-25T22:04:41Z</dcterms:modified>
</cp:coreProperties>
</file>